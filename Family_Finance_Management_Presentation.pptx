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21A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229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CORE TECHNOLOGIES USED
</a:t>
            </a:r>
          </a:p>
          <a:p>
            <a:r>
              <a:rPr sz="1000">
                <a:solidFill>
                  <a:srgbClr val="F0F6FC"/>
                </a:solidFill>
                <a:latin typeface="Consolas"/>
              </a:rPr>
              <a:t>• Framework:       ASP.NET Core 10.0 MVC (C#)
• Database:        MySQL Server (Port 3306)
• ORM Tool:        Entity Framework Core 9.0
• Security:        BCrypt Password Hashing &amp; Role Login
• Reports:         QuestPDF (PDF) &amp; CSV Export
• User Interface:  Modern Responsive Theme (Bootstrap 5.3)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822960"/>
            <a:ext cx="914400" cy="979714"/>
          </a:xfrm>
          <a:prstGeom prst="rect">
            <a:avLst/>
          </a:prstGeom>
        </p:spPr>
      </p:pic>
      <p:pic>
        <p:nvPicPr>
          <p:cNvPr id="6" name="Picture 5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822960"/>
            <a:ext cx="868680" cy="10776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18288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E676"/>
                </a:solidFill>
                <a:latin typeface="Consolas"/>
              </a:rPr>
              <a:t>ACADEMIC YEAR • 2026–2027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926080"/>
            <a:ext cx="9997135" cy="18288"/>
          </a:xfrm>
          <a:prstGeom prst="rect">
            <a:avLst/>
          </a:prstGeom>
          <a:solidFill>
            <a:srgbClr val="263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99971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E5FF"/>
                </a:solidFill>
                <a:latin typeface="Segoe UI"/>
              </a:rPr>
              <a:t>HomeLedger
</a:t>
            </a:r>
          </a:p>
          <a:p>
            <a:r>
              <a:rPr sz="1500">
                <a:solidFill>
                  <a:srgbClr val="B4F5FF"/>
                </a:solidFill>
                <a:latin typeface="Segoe UI"/>
              </a:rPr>
              <a:t>A Web Application for Managing Family Income, Expenses, and Savings Together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663440"/>
            <a:ext cx="9997135" cy="1371600"/>
          </a:xfrm>
          <a:prstGeom prst="roundRect">
            <a:avLst/>
          </a:prstGeom>
          <a:solidFill>
            <a:srgbClr val="0E1523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B300"/>
                </a:solidFill>
                <a:latin typeface="Consolas"/>
              </a:rPr>
              <a:t>PROJECT PRESENTATION DETAILS
</a:t>
            </a:r>
          </a:p>
          <a:p>
            <a:r>
              <a:rPr sz="950">
                <a:solidFill>
                  <a:srgbClr val="F0F6FC"/>
                </a:solidFill>
                <a:latin typeface="Consolas"/>
              </a:rPr>
              <a:t>Presented By:   Harshiddh Rana                                            Project Guide:  Prof. Anjali Nimavat (Assistant Professor)
Department:     BCA (Honours) Sem 7                                       In-Charge:      Prof. DevrajSinh Jadav (Principal In-Charge)
Institution:    Navgujarat BCA College, Gandhinagar                       Affiliated To:  Gujarat University, Ahmedabad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01 / HOUSEHOLD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Common Financial Problems in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Why managing family money is difficult without a centralized system: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5252"/>
                </a:solidFill>
                <a:latin typeface="Consolas"/>
              </a:rPr>
              <a:t>[ 01 / SCATTERED MONEY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Multiple Earners &amp; No Common View
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Family members earn separately (jobs, business) but do not share one single dashboard.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Head of the family cannot see total money left at the end of the month.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Cash spending and online UPI payments easily get forgotten without daily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B300"/>
                </a:solidFill>
                <a:latin typeface="Consolas"/>
              </a:rPr>
              <a:t>[ 02 / UNNOTICED OVERSPENDING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No Budget Limits or Warnings
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Daily expenses (groceries, bills, shopping) happen without monthly category limits.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Families only realize they overspent after their bank balance is almost finished.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No visual warning bars to alert family members when limits are reached.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E5FF"/>
                </a:solidFill>
                <a:latin typeface="Consolas"/>
              </a:rPr>
              <a:t>[ 03 / LOANS &amp; UDHAR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Forgotten Loans &amp; Unclear Records
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Money given to friends ('Lene Hai') or borrowed ('Dene Hai') is kept in diary or memory.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Partial repayments are easily forgotten, creating confusion and awkward disputes.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No proof or history of who paid how much and on what date.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02 / THE HOMELEDGER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The Solution: What is HomeLedger?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One simple website to track all family income, expenses, and debts in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121A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E5FF"/>
                </a:solidFill>
                <a:latin typeface="Consolas"/>
              </a:rPr>
              <a:t>MAIN HIGHLIGHTS
</a:t>
            </a:r>
          </a:p>
          <a:p>
            <a:r>
              <a:rPr sz="1400" b="1">
                <a:solidFill>
                  <a:srgbClr val="F0F6FC"/>
                </a:solidFill>
                <a:latin typeface="Segoe UI"/>
              </a:rPr>
              <a:t>Built for Indian Families
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HomeLedger replaces messy diaries and scattered excel sheets with a clean, easy-to-use website. It brings all earning family members together to record transactions, sets monthly budget limits, tracks informal loans (Udhar), and keeps data safe with simple 1-click backups.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E676"/>
                </a:solidFill>
                <a:latin typeface="Consolas"/>
              </a:rPr>
              <a:t>★ 100% — </a:t>
            </a:r>
            <a:r>
              <a:rPr sz="1050">
                <a:solidFill>
                  <a:srgbClr val="F0F6FC"/>
                </a:solidFill>
                <a:latin typeface="Segoe UI"/>
              </a:rPr>
              <a:t>Full Visibility of Family Money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E676"/>
                </a:solidFill>
                <a:latin typeface="Consolas"/>
              </a:rPr>
              <a:t>★ 14 — </a:t>
            </a:r>
            <a:r>
              <a:rPr sz="1050">
                <a:solidFill>
                  <a:srgbClr val="F0F6FC"/>
                </a:solidFill>
                <a:latin typeface="Segoe UI"/>
              </a:rPr>
              <a:t>Easy and Useful Modules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0E676"/>
                </a:solidFill>
                <a:latin typeface="Consolas"/>
              </a:rPr>
              <a:t>★ 0-Loss — </a:t>
            </a:r>
            <a:r>
              <a:rPr sz="1050">
                <a:solidFill>
                  <a:srgbClr val="F0F6FC"/>
                </a:solidFill>
                <a:latin typeface="Segoe UI"/>
              </a:rPr>
              <a:t>Safe JSON Database Backup &amp; Restore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45920"/>
            <a:ext cx="6065215" cy="144475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755648"/>
            <a:ext cx="5669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E5FF"/>
                </a:solidFill>
                <a:latin typeface="Consolas"/>
              </a:rPr>
              <a:t>[ FAMILY COLLABORATION ]  </a:t>
            </a:r>
            <a:r>
              <a:rPr sz="1250" b="1">
                <a:solidFill>
                  <a:srgbClr val="F0F6FC"/>
                </a:solidFill>
                <a:latin typeface="Segoe UI"/>
              </a:rPr>
              <a:t>Multi-User Family Access
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Admin (Head of Family) manages budgets and members. Other family members log their own daily expenses and earnings.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218688"/>
            <a:ext cx="6065215" cy="144475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3328416"/>
            <a:ext cx="5669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E676"/>
                </a:solidFill>
                <a:latin typeface="Consolas"/>
              </a:rPr>
              <a:t>[ AUTOMATED BILLS ]  </a:t>
            </a:r>
            <a:r>
              <a:rPr sz="1250" b="1">
                <a:solidFill>
                  <a:srgbClr val="F0F6FC"/>
                </a:solidFill>
                <a:latin typeface="Segoe UI"/>
              </a:rPr>
              <a:t>Fixed Incomes &amp; Monthly Bills
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Automatically adds monthly salary and regular bills (like WiFi, electricity, tuition fees) on their set due 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4791456"/>
            <a:ext cx="6065215" cy="144475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4901184"/>
            <a:ext cx="5669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B300"/>
                </a:solidFill>
                <a:latin typeface="Consolas"/>
              </a:rPr>
              <a:t>[ UDHAR TRACKER ]  </a:t>
            </a:r>
            <a:r>
              <a:rPr sz="1250" b="1">
                <a:solidFill>
                  <a:srgbClr val="F0F6FC"/>
                </a:solidFill>
                <a:latin typeface="Segoe UI"/>
              </a:rPr>
              <a:t>Simple Loan &amp; Debt Tracker
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Clear tracking of money given to others ('Lene Hai') and money borrowed ('Dene Hai') with payment history and proofs.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03 / 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Main Objectives of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What we want to achieve with this system: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[ GOAL 01 ]
</a:t>
            </a:r>
          </a:p>
          <a:p>
            <a:r>
              <a:rPr sz="1400" b="1">
                <a:solidFill>
                  <a:srgbClr val="F0F6FC"/>
                </a:solidFill>
                <a:latin typeface="Segoe UI"/>
              </a:rPr>
              <a:t>All Family Money in One Place
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Combine different bank accounts, cash, and incomes into a single simple dashboard so everyone knows the total 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E676"/>
                </a:solidFill>
                <a:latin typeface="Consolas"/>
              </a:rPr>
              <a:t>[ GOAL 02 ]
</a:t>
            </a:r>
          </a:p>
          <a:p>
            <a:r>
              <a:rPr sz="1400" b="1">
                <a:solidFill>
                  <a:srgbClr val="F0F6FC"/>
                </a:solidFill>
                <a:latin typeface="Segoe UI"/>
              </a:rPr>
              <a:t>Control Monthly Expenses
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Set monthly spending limits for categories like Food, Utilities, and Shopping with progress bars to stop overspending.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0624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B300"/>
                </a:solidFill>
                <a:latin typeface="Consolas"/>
              </a:rPr>
              <a:t>[ GOAL 03 ]
</a:t>
            </a:r>
          </a:p>
          <a:p>
            <a:r>
              <a:rPr sz="1400" b="1">
                <a:solidFill>
                  <a:srgbClr val="F0F6FC"/>
                </a:solidFill>
                <a:latin typeface="Segoe UI"/>
              </a:rPr>
              <a:t>Track Loans and Udhar Easily
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Keep clear records of money borrowed or lent with person name, dates, notes, and partial payments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C4DFF"/>
                </a:solidFill>
                <a:latin typeface="Consolas"/>
              </a:rPr>
              <a:t>[ GOAL 04 ]
</a:t>
            </a:r>
          </a:p>
          <a:p>
            <a:r>
              <a:rPr sz="1400" b="1">
                <a:solidFill>
                  <a:srgbClr val="F0F6FC"/>
                </a:solidFill>
                <a:latin typeface="Segoe UI"/>
              </a:rPr>
              <a:t>Easy Reports &amp; Safe Backups
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Download clean PDF and CSV reports for any month, and backup all family data with a single click.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04 / ARCHITECTURE &amp;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System Architecture (3-Tier MVC Design)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How the system is structured using standard 3-tier MVC architecture: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44475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[ 1. USER INTERFACE TIER ]  •  Frontend (What the User Sees)
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• Technologies:  </a:t>
            </a:r>
            <a:r>
              <a:rPr sz="1000">
                <a:solidFill>
                  <a:srgbClr val="8C96A2"/>
                </a:solidFill>
                <a:latin typeface="Segoe UI"/>
              </a:rPr>
              <a:t>Razor Views (.cshtml), HTML5, CSS3, JavaScript, jQuery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• Styling:  </a:t>
            </a:r>
            <a:r>
              <a:rPr sz="1000">
                <a:solidFill>
                  <a:srgbClr val="8C96A2"/>
                </a:solidFill>
                <a:latin typeface="Segoe UI"/>
              </a:rPr>
              <a:t>Bootstrap 5.3 framework with custom dark HUD cyberpunk theme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• Responsiveness:  </a:t>
            </a:r>
            <a:r>
              <a:rPr sz="1000">
                <a:solidFill>
                  <a:srgbClr val="8C96A2"/>
                </a:solidFill>
                <a:latin typeface="Segoe UI"/>
              </a:rPr>
              <a:t>Works smoothly on mobile phones, tablets, and desktop computers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18688"/>
            <a:ext cx="10728655" cy="144475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28416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E676"/>
                </a:solidFill>
                <a:latin typeface="Consolas"/>
              </a:rPr>
              <a:t>[ 2. BUSINESS LOGIC TIER ]  •  Backend C# Controllers &amp; Business Rules
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• Core Logic:  </a:t>
            </a:r>
            <a:r>
              <a:rPr sz="1000">
                <a:solidFill>
                  <a:srgbClr val="8C96A2"/>
                </a:solidFill>
                <a:latin typeface="Segoe UI"/>
              </a:rPr>
              <a:t>Controllers handle Income, Expenses, Budgets, Loans, and Reports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• Calculations:  </a:t>
            </a:r>
            <a:r>
              <a:rPr sz="1000">
                <a:solidFill>
                  <a:srgbClr val="8C96A2"/>
                </a:solidFill>
                <a:latin typeface="Segoe UI"/>
              </a:rPr>
              <a:t>Calculates real-time balances and checks if monthly budget limits are crossed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• User Security:  </a:t>
            </a:r>
            <a:r>
              <a:rPr sz="1000">
                <a:solidFill>
                  <a:srgbClr val="8C96A2"/>
                </a:solidFill>
                <a:latin typeface="Segoe UI"/>
              </a:rPr>
              <a:t>BCrypt password hashing and Anti-Forgery tokens protect against attacks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91456"/>
            <a:ext cx="10728655" cy="144475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01184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C4DFF"/>
                </a:solidFill>
                <a:latin typeface="Consolas"/>
              </a:rPr>
              <a:t>[ 3. DATABASE TIER ]  •  Data Storage &amp; Backup Engine
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• Database:  </a:t>
            </a:r>
            <a:r>
              <a:rPr sz="1000">
                <a:solidFill>
                  <a:srgbClr val="8C96A2"/>
                </a:solidFill>
                <a:latin typeface="Segoe UI"/>
              </a:rPr>
              <a:t>MySQL Server (Port 3306) with 11 relational tables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• ORM Tool:  </a:t>
            </a:r>
            <a:r>
              <a:rPr sz="1000">
                <a:solidFill>
                  <a:srgbClr val="8C96A2"/>
                </a:solidFill>
                <a:latin typeface="Segoe UI"/>
              </a:rPr>
              <a:t>Entity Framework Core (Pomelo) for easy database operations in C#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• Backup Engine:  </a:t>
            </a:r>
            <a:r>
              <a:rPr sz="1000">
                <a:solidFill>
                  <a:srgbClr val="8C96A2"/>
                </a:solidFill>
                <a:latin typeface="Segoe UI"/>
              </a:rPr>
              <a:t>Exports all database tables into a single JSON file for safe recovery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05 / FUNCTIONAL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Core System Modules Overview (14 Modules)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Complete list of all 14 features developed in this project: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82496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E5FF"/>
                </a:solidFill>
                <a:latin typeface="Consolas"/>
              </a:rPr>
              <a:t>[ MODULE M1 ] </a:t>
            </a:r>
            <a:r>
              <a:rPr sz="1000" b="1">
                <a:solidFill>
                  <a:srgbClr val="F0F6FC"/>
                </a:solidFill>
                <a:latin typeface="Segoe UI"/>
              </a:rPr>
              <a:t>User Login &amp; Roles: </a:t>
            </a:r>
            <a:r>
              <a:rPr sz="950">
                <a:solidFill>
                  <a:srgbClr val="8C96A2"/>
                </a:solidFill>
                <a:latin typeface="Segoe UI"/>
              </a:rPr>
              <a:t>Secure login for Admin and Family Members using BCrypt hashing.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82496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E676"/>
                </a:solidFill>
                <a:latin typeface="Consolas"/>
              </a:rPr>
              <a:t>[ MODULE M2 ] </a:t>
            </a:r>
            <a:r>
              <a:rPr sz="1000" b="1">
                <a:solidFill>
                  <a:srgbClr val="F0F6FC"/>
                </a:solidFill>
                <a:latin typeface="Segoe UI"/>
              </a:rPr>
              <a:t>Main Dashboard: </a:t>
            </a:r>
            <a:r>
              <a:rPr sz="950">
                <a:solidFill>
                  <a:srgbClr val="8C96A2"/>
                </a:solidFill>
                <a:latin typeface="Segoe UI"/>
              </a:rPr>
              <a:t>Shows total balance, income, expenses, and loans at a glance.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13432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0008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B300"/>
                </a:solidFill>
                <a:latin typeface="Consolas"/>
              </a:rPr>
              <a:t>[ MODULE M3 ] </a:t>
            </a:r>
            <a:r>
              <a:rPr sz="1000" b="1">
                <a:solidFill>
                  <a:srgbClr val="F0F6FC"/>
                </a:solidFill>
                <a:latin typeface="Segoe UI"/>
              </a:rPr>
              <a:t>Family Members: </a:t>
            </a:r>
            <a:r>
              <a:rPr sz="950">
                <a:solidFill>
                  <a:srgbClr val="8C96A2"/>
                </a:solidFill>
                <a:latin typeface="Segoe UI"/>
              </a:rPr>
              <a:t>Add and manage family members with relationships (Head, Wife, Son).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313432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350008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C4DFF"/>
                </a:solidFill>
                <a:latin typeface="Consolas"/>
              </a:rPr>
              <a:t>[ MODULE M4 ] </a:t>
            </a:r>
            <a:r>
              <a:rPr sz="1000" b="1">
                <a:solidFill>
                  <a:srgbClr val="F0F6FC"/>
                </a:solidFill>
                <a:latin typeface="Segoe UI"/>
              </a:rPr>
              <a:t>Income Management: </a:t>
            </a:r>
            <a:r>
              <a:rPr sz="950">
                <a:solidFill>
                  <a:srgbClr val="8C96A2"/>
                </a:solidFill>
                <a:latin typeface="Segoe UI"/>
              </a:rPr>
              <a:t>Record salary, rental income, and gifts with PDF and CSV export.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80944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1752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5252"/>
                </a:solidFill>
                <a:latin typeface="Consolas"/>
              </a:rPr>
              <a:t>[ MODULE M5 ] </a:t>
            </a:r>
            <a:r>
              <a:rPr sz="1000" b="1">
                <a:solidFill>
                  <a:srgbClr val="F0F6FC"/>
                </a:solidFill>
                <a:latin typeface="Segoe UI"/>
              </a:rPr>
              <a:t>Expense Tracking: </a:t>
            </a:r>
            <a:r>
              <a:rPr sz="950">
                <a:solidFill>
                  <a:srgbClr val="8C96A2"/>
                </a:solidFill>
                <a:latin typeface="Segoe UI"/>
              </a:rPr>
              <a:t>Record daily expenses with category, date, and receipt notes.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80944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017520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E5FF"/>
                </a:solidFill>
                <a:latin typeface="Consolas"/>
              </a:rPr>
              <a:t>[ MODULE M6 ] </a:t>
            </a:r>
            <a:r>
              <a:rPr sz="1000" b="1">
                <a:solidFill>
                  <a:srgbClr val="F0F6FC"/>
                </a:solidFill>
                <a:latin typeface="Segoe UI"/>
              </a:rPr>
              <a:t>Categories: </a:t>
            </a:r>
            <a:r>
              <a:rPr sz="950">
                <a:solidFill>
                  <a:srgbClr val="8C96A2"/>
                </a:solidFill>
                <a:latin typeface="Segoe UI"/>
              </a:rPr>
              <a:t>Custom categories with colors and icons for easy sorting.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48456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68503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E676"/>
                </a:solidFill>
                <a:latin typeface="Consolas"/>
              </a:rPr>
              <a:t>[ MODULE M7 ] </a:t>
            </a:r>
            <a:r>
              <a:rPr sz="1000" b="1">
                <a:solidFill>
                  <a:srgbClr val="F0F6FC"/>
                </a:solidFill>
                <a:latin typeface="Segoe UI"/>
              </a:rPr>
              <a:t>Monthly Budgets: </a:t>
            </a:r>
            <a:r>
              <a:rPr sz="950">
                <a:solidFill>
                  <a:srgbClr val="8C96A2"/>
                </a:solidFill>
                <a:latin typeface="Segoe UI"/>
              </a:rPr>
              <a:t>Set spending limits with progress bars to prevent overspending.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48456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68503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B300"/>
                </a:solidFill>
                <a:latin typeface="Consolas"/>
              </a:rPr>
              <a:t>[ MODULE M8 ] </a:t>
            </a:r>
            <a:r>
              <a:rPr sz="1000" b="1">
                <a:solidFill>
                  <a:srgbClr val="F0F6FC"/>
                </a:solidFill>
                <a:latin typeface="Segoe UI"/>
              </a:rPr>
              <a:t>Recurring Incomes: </a:t>
            </a:r>
            <a:r>
              <a:rPr sz="950">
                <a:solidFill>
                  <a:srgbClr val="8C96A2"/>
                </a:solidFill>
                <a:latin typeface="Segoe UI"/>
              </a:rPr>
              <a:t>Automatically adds fixed incomes like monthly salary on set days.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15968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5254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5252"/>
                </a:solidFill>
                <a:latin typeface="Consolas"/>
              </a:rPr>
              <a:t>[ MODULE M9 ] </a:t>
            </a:r>
            <a:r>
              <a:rPr sz="1000" b="1">
                <a:solidFill>
                  <a:srgbClr val="F0F6FC"/>
                </a:solidFill>
                <a:latin typeface="Segoe UI"/>
              </a:rPr>
              <a:t>Recurring Bills: </a:t>
            </a:r>
            <a:r>
              <a:rPr sz="950">
                <a:solidFill>
                  <a:srgbClr val="8C96A2"/>
                </a:solidFill>
                <a:latin typeface="Segoe UI"/>
              </a:rPr>
              <a:t>Automatically tracks regular bills like WiFi, electricity, tuition fees.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315968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352544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C4DFF"/>
                </a:solidFill>
                <a:latin typeface="Consolas"/>
              </a:rPr>
              <a:t>[ MODULE M10 ] </a:t>
            </a:r>
            <a:r>
              <a:rPr sz="1000" b="1">
                <a:solidFill>
                  <a:srgbClr val="F0F6FC"/>
                </a:solidFill>
                <a:latin typeface="Segoe UI"/>
              </a:rPr>
              <a:t>Savings Goals: </a:t>
            </a:r>
            <a:r>
              <a:rPr sz="950">
                <a:solidFill>
                  <a:srgbClr val="8C96A2"/>
                </a:solidFill>
                <a:latin typeface="Segoe UI"/>
              </a:rPr>
              <a:t>Set target amounts like Emergency Fund or Vacation with progress %.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83480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020056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E5FF"/>
                </a:solidFill>
                <a:latin typeface="Consolas"/>
              </a:rPr>
              <a:t>[ MODULE M11 ] </a:t>
            </a:r>
            <a:r>
              <a:rPr sz="1000" b="1">
                <a:solidFill>
                  <a:srgbClr val="F0F6FC"/>
                </a:solidFill>
                <a:latin typeface="Segoe UI"/>
              </a:rPr>
              <a:t>Udhar (Debt) Ledger: </a:t>
            </a:r>
            <a:r>
              <a:rPr sz="950">
                <a:solidFill>
                  <a:srgbClr val="8C96A2"/>
                </a:solidFill>
                <a:latin typeface="Segoe UI"/>
              </a:rPr>
              <a:t>Track 'Lene Hai' and 'Dene Hai' with partial payments.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983480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5020056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E676"/>
                </a:solidFill>
                <a:latin typeface="Consolas"/>
              </a:rPr>
              <a:t>[ MODULE M12 ] </a:t>
            </a:r>
            <a:r>
              <a:rPr sz="1000" b="1">
                <a:solidFill>
                  <a:srgbClr val="F0F6FC"/>
                </a:solidFill>
                <a:latin typeface="Segoe UI"/>
              </a:rPr>
              <a:t>Bill Reminders: </a:t>
            </a:r>
            <a:r>
              <a:rPr sz="950">
                <a:solidFill>
                  <a:srgbClr val="8C96A2"/>
                </a:solidFill>
                <a:latin typeface="Segoe UI"/>
              </a:rPr>
              <a:t>Alerts for upcoming due dates so late payment penalties are avoided.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650992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87568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B300"/>
                </a:solidFill>
                <a:latin typeface="Consolas"/>
              </a:rPr>
              <a:t>[ MODULE M13 ] </a:t>
            </a:r>
            <a:r>
              <a:rPr sz="1000" b="1">
                <a:solidFill>
                  <a:srgbClr val="F0F6FC"/>
                </a:solidFill>
                <a:latin typeface="Segoe UI"/>
              </a:rPr>
              <a:t>Reports &amp; Analysis: </a:t>
            </a:r>
            <a:r>
              <a:rPr sz="950">
                <a:solidFill>
                  <a:srgbClr val="8C96A2"/>
                </a:solidFill>
                <a:latin typeface="Segoe UI"/>
              </a:rPr>
              <a:t>Monthly breakdown charts and annual cashflow summaries.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5650992"/>
            <a:ext cx="5257800" cy="6217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687568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C4DFF"/>
                </a:solidFill>
                <a:latin typeface="Consolas"/>
              </a:rPr>
              <a:t>[ MODULE M14 ] </a:t>
            </a:r>
            <a:r>
              <a:rPr sz="1000" b="1">
                <a:solidFill>
                  <a:srgbClr val="F0F6FC"/>
                </a:solidFill>
                <a:latin typeface="Segoe UI"/>
              </a:rPr>
              <a:t>Database Backup: </a:t>
            </a:r>
            <a:r>
              <a:rPr sz="950">
                <a:solidFill>
                  <a:srgbClr val="8C96A2"/>
                </a:solidFill>
                <a:latin typeface="Segoe UI"/>
              </a:rPr>
              <a:t>Single-click JSON backup and instant restore feature.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06 / MULTI-MEMBER ROLES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Multi-User Access &amp; Security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How family members use the system safely and privately: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22311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[ STEP 01 ]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Family Registration
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The head of the family creates an account with Family Name, a unique Family ID, and master password.</a:t>
            </a:r>
          </a:p>
          <a:p>
            <a:pPr>
              <a:spcBef>
                <a:spcPts val="2000"/>
              </a:spcBef>
            </a:pPr>
            <a:r>
              <a:rPr sz="1000" b="1">
                <a:solidFill>
                  <a:srgbClr val="00E676"/>
                </a:solidFill>
                <a:latin typeface="Consolas"/>
              </a:rPr>
              <a:t>✔ Outcome: Family Account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28800"/>
            <a:ext cx="22311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E676"/>
                </a:solidFill>
                <a:latin typeface="Consolas"/>
              </a:rPr>
              <a:t>[ STEP 02 ]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Add Family Members
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The Admin adds other family members (Self, Wife, Son, Daughter) with their names and contact details.</a:t>
            </a:r>
          </a:p>
          <a:p>
            <a:pPr>
              <a:spcBef>
                <a:spcPts val="2000"/>
              </a:spcBef>
            </a:pPr>
            <a:r>
              <a:rPr sz="1000" b="1">
                <a:solidFill>
                  <a:srgbClr val="00E676"/>
                </a:solidFill>
                <a:latin typeface="Consolas"/>
              </a:rPr>
              <a:t>✔ Outcome: Profiles Created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828800"/>
            <a:ext cx="22311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B300"/>
                </a:solidFill>
                <a:latin typeface="Consolas"/>
              </a:rPr>
              <a:t>[ STEP 03 ]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Separate Logins
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Admin logs in for full control; other family members log in to record their individual expenses and earnings.</a:t>
            </a:r>
          </a:p>
          <a:p>
            <a:pPr>
              <a:spcBef>
                <a:spcPts val="2000"/>
              </a:spcBef>
            </a:pPr>
            <a:r>
              <a:rPr sz="1000" b="1">
                <a:solidFill>
                  <a:srgbClr val="00E676"/>
                </a:solidFill>
                <a:latin typeface="Consolas"/>
              </a:rPr>
              <a:t>✔ Outcome: Organized &amp; Private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603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1828800"/>
            <a:ext cx="22311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C4DFF"/>
                </a:solidFill>
                <a:latin typeface="Consolas"/>
              </a:rPr>
              <a:t>[ STEP 04 ]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Password Safety
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Passwords are securely encrypted with BCrypt; session cookies keep user data protected at all times.</a:t>
            </a:r>
          </a:p>
          <a:p>
            <a:pPr>
              <a:spcBef>
                <a:spcPts val="2000"/>
              </a:spcBef>
            </a:pPr>
            <a:r>
              <a:rPr sz="1000" b="1">
                <a:solidFill>
                  <a:srgbClr val="00E676"/>
                </a:solidFill>
                <a:latin typeface="Consolas"/>
              </a:rPr>
              <a:t>✔ Outcome: 100% Safe Data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07 / BUDGET &amp; CASHFLOW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Smart Budgeting &amp; Automated Bills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Helping families save money and pay bills on time: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E5FF"/>
                </a:solidFill>
                <a:latin typeface="Consolas"/>
              </a:rPr>
              <a:t>[ AUTOMATIC INCOMES &amp; BILLS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Recurring Transactions
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Automatically records monthly salary on payment day without manual typing.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Sets reminders and records regular bills like WiFi, electricity, and school fees.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Saves time and prevents missing payment deadlines.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E676"/>
                </a:solidFill>
                <a:latin typeface="Consolas"/>
              </a:rPr>
              <a:t>[ MONTHLY BUDGET LIMITS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Category Spending Caps
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Set monthly spending limits for each category (e.g. Groceries ₹10,000, Dining ₹3,000).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Color-coded progress bars show how much budget has been used so far.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Gives clear visual warning before a family member exceeds the limit.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7C4DFF"/>
                </a:solidFill>
                <a:latin typeface="Consolas"/>
              </a:rPr>
              <a:t>[ SAVINGS GOALS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Saving for Future Targets
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Create goals like 'Emergency Fund' or 'New Vehicle'.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Displays clear progress bar showing how much is saved and how much is left.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• Encourages family members to save money together for big milestones.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08 / BILATERAL UDHAR &amp; DEBT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Udhar (Loan) Management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A simple 4-step process to track money given to or borrowed from others: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28800"/>
            <a:ext cx="22311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B300"/>
                </a:solidFill>
                <a:latin typeface="Consolas"/>
              </a:rPr>
              <a:t>[ STEP 1 ]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Add Loan Entry
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Enter the person's name, choose 'Lene Hai' (Receivable) or 'Dene Hai' (Payable), and enter the amount.</a:t>
            </a:r>
          </a:p>
          <a:p>
            <a:pPr>
              <a:spcBef>
                <a:spcPts val="2000"/>
              </a:spcBef>
            </a:pPr>
            <a:r>
              <a:rPr sz="950" b="1">
                <a:solidFill>
                  <a:srgbClr val="FFB300"/>
                </a:solidFill>
                <a:latin typeface="Consolas"/>
              </a:rPr>
              <a:t>✔ Status: Loan Recorded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28800"/>
            <a:ext cx="22311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[ STEP 2 ]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Add Notes &amp; Proof
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Write the reason for the loan (e.g. medical emergency) and optionally upload receipt image.</a:t>
            </a:r>
          </a:p>
          <a:p>
            <a:pPr>
              <a:spcBef>
                <a:spcPts val="2000"/>
              </a:spcBef>
            </a:pPr>
            <a:r>
              <a:rPr sz="950" b="1">
                <a:solidFill>
                  <a:srgbClr val="00E5FF"/>
                </a:solidFill>
                <a:latin typeface="Consolas"/>
              </a:rPr>
              <a:t>✔ Status: Proof Attached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5603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828800"/>
            <a:ext cx="22311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E676"/>
                </a:solidFill>
                <a:latin typeface="Consolas"/>
              </a:rPr>
              <a:t>[ STEP 3 ]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Record Repayments
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Easily record partial payments whenever money is returned; remaining balance updates automatically.</a:t>
            </a:r>
          </a:p>
          <a:p>
            <a:pPr>
              <a:spcBef>
                <a:spcPts val="2000"/>
              </a:spcBef>
            </a:pPr>
            <a:r>
              <a:rPr sz="950" b="1">
                <a:solidFill>
                  <a:srgbClr val="00E676"/>
                </a:solidFill>
                <a:latin typeface="Consolas"/>
              </a:rPr>
              <a:t>✔ Status: Balance Updated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6032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1828800"/>
            <a:ext cx="223113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C4DFF"/>
                </a:solidFill>
                <a:latin typeface="Consolas"/>
              </a:rPr>
              <a:t>[ STEP 4 ]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Mark Completed
</a:t>
            </a:r>
          </a:p>
          <a:p>
            <a:pPr>
              <a:spcBef>
                <a:spcPts val="10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When the remaining amount reaches ₹0, the loan status automatically changes from 'Pending' to 'Completed'.</a:t>
            </a:r>
          </a:p>
          <a:p>
            <a:pPr>
              <a:spcBef>
                <a:spcPts val="2000"/>
              </a:spcBef>
            </a:pPr>
            <a:r>
              <a:rPr sz="950" b="1">
                <a:solidFill>
                  <a:srgbClr val="7C4DFF"/>
                </a:solidFill>
                <a:latin typeface="Consolas"/>
              </a:rPr>
              <a:t>✔ Status: Fully Settled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09 / OPERATIONAL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System Screenshots: Dashboard &amp; Income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Modern dark user interface designed for easy everyday use: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4983480" cy="27565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489204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Consolas"/>
              </a:rPr>
              <a:t>FIGURE 9.1: MAIN FINANCIAL DASHBOARD
</a:t>
            </a:r>
            <a:r>
              <a:rPr sz="950">
                <a:solidFill>
                  <a:srgbClr val="8C96A2"/>
                </a:solidFill>
                <a:latin typeface="Segoe UI"/>
              </a:rPr>
              <a:t>Displays 5 summary cards: Current Balance, Total Income, Total Expenses, Money to Receive, and Money to Pay, along with recent activity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25780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income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4983480" cy="27565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489204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E676"/>
                </a:solidFill>
                <a:latin typeface="Consolas"/>
              </a:rPr>
              <a:t>FIGURE 9.2: INCOME MANAGEMENT PAGE
</a:t>
            </a:r>
            <a:r>
              <a:rPr sz="950">
                <a:solidFill>
                  <a:srgbClr val="8C96A2"/>
                </a:solidFill>
                <a:latin typeface="Segoe UI"/>
              </a:rPr>
              <a:t>Clean table showing all income records with member name, search filter, and quick buttons to export PDF and CSV reports.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10 / OPERATIONAL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System Screenshots: Expenses &amp; Udhar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Clear screens for tracking daily spending and friendly loans: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expens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4983480" cy="27565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489204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5252"/>
                </a:solidFill>
                <a:latin typeface="Consolas"/>
              </a:rPr>
              <a:t>FIGURE 10.1: EXPENSE TRACKING PAGE
</a:t>
            </a:r>
            <a:r>
              <a:rPr sz="950">
                <a:solidFill>
                  <a:srgbClr val="8C96A2"/>
                </a:solidFill>
                <a:latin typeface="Segoe UI"/>
              </a:rPr>
              <a:t>Lists all daily expenses with category badges, notes, and instant balance updates when a new expense is saved.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257800" cy="4663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0_udhar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83080"/>
            <a:ext cx="4983480" cy="27565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4892040"/>
            <a:ext cx="4983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FB300"/>
                </a:solidFill>
                <a:latin typeface="Consolas"/>
              </a:rPr>
              <a:t>FIGURE 10.2: UDHAR (LOAN) LEDGER PAGE
</a:t>
            </a:r>
            <a:r>
              <a:rPr sz="950">
                <a:solidFill>
                  <a:srgbClr val="8C96A2"/>
                </a:solidFill>
                <a:latin typeface="Segoe UI"/>
              </a:rPr>
              <a:t>Shows pending loans with clear green and red badges for 'Lene Hai' vs 'Dene Hai' and remaining amounts.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11 / EVALUATION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Feasibility Study &amp; Current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Why this project is practical and areas for future improvement: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210312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0E676"/>
                </a:solidFill>
                <a:latin typeface="Consolas"/>
              </a:rPr>
              <a:t>FEASIBILITY STUDY VALIDATION
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✔ Technical Feasibility:   </a:t>
            </a:r>
            <a:r>
              <a:rPr sz="1000">
                <a:solidFill>
                  <a:srgbClr val="8C96A2"/>
                </a:solidFill>
                <a:latin typeface="Segoe UI"/>
              </a:rPr>
              <a:t>Built with ASP.NET Core MVC and MySQL. Runs fast, reliable, and error-free on any Windows or Linux computer.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✔ Economic Feasibility:   </a:t>
            </a:r>
            <a:r>
              <a:rPr sz="1000">
                <a:solidFill>
                  <a:srgbClr val="8C96A2"/>
                </a:solidFill>
                <a:latin typeface="Segoe UI"/>
              </a:rPr>
              <a:t>Zero licensing costs because only open-source software (Free .NET SDK, MySQL Community) is used. Saves money for families.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✔ Operational Feasibility:   </a:t>
            </a:r>
            <a:r>
              <a:rPr sz="1000">
                <a:solidFill>
                  <a:srgbClr val="8C96A2"/>
                </a:solidFill>
                <a:latin typeface="Segoe UI"/>
              </a:rPr>
              <a:t>Very simple user interface that any family member can learn to use in just 5 minutes without any special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237744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5252"/>
                </a:solidFill>
                <a:latin typeface="Consolas"/>
              </a:rPr>
              <a:t>CURRENT PROJECT LIMITATIONS
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⚠ Manual Bank Entry:   </a:t>
            </a:r>
            <a:r>
              <a:rPr sz="1000">
                <a:solidFill>
                  <a:srgbClr val="8C96A2"/>
                </a:solidFill>
                <a:latin typeface="Segoe UI"/>
              </a:rPr>
              <a:t>Users enter transactions manually. Direct bank API link is not connected yet to keep it simple and free.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⚠ Single Currency (INR):   </a:t>
            </a:r>
            <a:r>
              <a:rPr sz="1000">
                <a:solidFill>
                  <a:srgbClr val="8C96A2"/>
                </a:solidFill>
                <a:latin typeface="Segoe UI"/>
              </a:rPr>
              <a:t>System currently works with Indian Rupees (₹); foreign currency conversion can be added in future versions.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⚠ Requires Server Connection:   </a:t>
            </a:r>
            <a:r>
              <a:rPr sz="1000">
                <a:solidFill>
                  <a:srgbClr val="8C96A2"/>
                </a:solidFill>
                <a:latin typeface="Segoe UI"/>
              </a:rPr>
              <a:t>Must be opened through browser connected to the local or cloud web server.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F0F6FC"/>
                </a:solidFill>
                <a:latin typeface="Segoe UI"/>
              </a:rPr>
              <a:t>⚠ Photo Proofs are Manual:   </a:t>
            </a:r>
            <a:r>
              <a:rPr sz="1000">
                <a:solidFill>
                  <a:srgbClr val="8C96A2"/>
                </a:solidFill>
                <a:latin typeface="Segoe UI"/>
              </a:rPr>
              <a:t>Receipts are uploaded as images; automated receipt text scanner (OCR) is planned for next update.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12 / 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Future Scope &amp;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Features planned to make HomeLedger even more powerful in future versions: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57800" cy="4663440"/>
          </a:xfrm>
          <a:prstGeom prst="roundRect">
            <a:avLst/>
          </a:prstGeom>
          <a:solidFill>
            <a:srgbClr val="121A2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E5FF"/>
                </a:solidFill>
                <a:latin typeface="Consolas"/>
              </a:rPr>
              <a:t>🌟 MAIN FUTURE FEATURE
</a:t>
            </a:r>
          </a:p>
          <a:p>
            <a:r>
              <a:rPr sz="1400" b="1">
                <a:solidFill>
                  <a:srgbClr val="F0F6FC"/>
                </a:solidFill>
                <a:latin typeface="Segoe UI"/>
              </a:rPr>
              <a:t>AI Financial Assistant &amp; Spend Prediction
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0F6FC"/>
                </a:solidFill>
                <a:latin typeface="Segoe UI"/>
              </a:rPr>
              <a:t>• Balance Prediction: </a:t>
            </a:r>
            <a:r>
              <a:rPr sz="1000">
                <a:solidFill>
                  <a:srgbClr val="8C96A2"/>
                </a:solidFill>
                <a:latin typeface="Segoe UI"/>
              </a:rPr>
              <a:t>Predicts how much money will remain at month-end based on past spending habits.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0F6FC"/>
                </a:solidFill>
                <a:latin typeface="Segoe UI"/>
              </a:rPr>
              <a:t>• Spending Alerts: </a:t>
            </a:r>
            <a:r>
              <a:rPr sz="1000">
                <a:solidFill>
                  <a:srgbClr val="8C96A2"/>
                </a:solidFill>
                <a:latin typeface="Segoe UI"/>
              </a:rPr>
              <a:t>Automatically alerts if extra money is being spent on shopping or food.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0F6FC"/>
                </a:solidFill>
                <a:latin typeface="Segoe UI"/>
              </a:rPr>
              <a:t>• Smart Saving Tips: </a:t>
            </a:r>
            <a:r>
              <a:rPr sz="1000">
                <a:solidFill>
                  <a:srgbClr val="8C96A2"/>
                </a:solidFill>
                <a:latin typeface="Segoe UI"/>
              </a:rPr>
              <a:t>Gives useful suggestions to help the family save an extra 10% to 20% every month.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10789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19072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E676"/>
                </a:solidFill>
                <a:latin typeface="Consolas"/>
              </a:rPr>
              <a:t>[ MOBILE APP ] </a:t>
            </a:r>
            <a:r>
              <a:rPr sz="1100" b="1">
                <a:solidFill>
                  <a:srgbClr val="F0F6FC"/>
                </a:solidFill>
                <a:latin typeface="Segoe UI"/>
              </a:rPr>
              <a:t>Android &amp; iOS App
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8C96A2"/>
                </a:solidFill>
                <a:latin typeface="Segoe UI"/>
              </a:rPr>
              <a:t>Dedicated mobile app for quick expense logging on smartphones.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816352"/>
            <a:ext cx="5257800" cy="10789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889504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B300"/>
                </a:solidFill>
                <a:latin typeface="Consolas"/>
              </a:rPr>
              <a:t>[ BANK &amp; UPI SYNC ] </a:t>
            </a:r>
            <a:r>
              <a:rPr sz="1100" b="1">
                <a:solidFill>
                  <a:srgbClr val="F0F6FC"/>
                </a:solidFill>
                <a:latin typeface="Segoe UI"/>
              </a:rPr>
              <a:t>Direct Bank Account Sync
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8C96A2"/>
                </a:solidFill>
                <a:latin typeface="Segoe UI"/>
              </a:rPr>
              <a:t>Connect directly with UPI and bank statements for automatic data entry.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86784"/>
            <a:ext cx="5257800" cy="10789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59936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7C4DFF"/>
                </a:solidFill>
                <a:latin typeface="Consolas"/>
              </a:rPr>
              <a:t>[ BILL SCANNER ] </a:t>
            </a:r>
            <a:r>
              <a:rPr sz="1100" b="1">
                <a:solidFill>
                  <a:srgbClr val="F0F6FC"/>
                </a:solidFill>
                <a:latin typeface="Segoe UI"/>
              </a:rPr>
              <a:t>Smart Receipt Scanner (OCR)
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8C96A2"/>
                </a:solidFill>
                <a:latin typeface="Segoe UI"/>
              </a:rPr>
              <a:t>Take a photo of grocery bill and let system read the amount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5157216"/>
            <a:ext cx="5257800" cy="1078992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5230368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E5FF"/>
                </a:solidFill>
                <a:latin typeface="Consolas"/>
              </a:rPr>
              <a:t>[ WHATSAPP ALERTS ] </a:t>
            </a:r>
            <a:r>
              <a:rPr sz="1100" b="1">
                <a:solidFill>
                  <a:srgbClr val="F0F6FC"/>
                </a:solidFill>
                <a:latin typeface="Segoe UI"/>
              </a:rPr>
              <a:t>WhatsApp Bill Reminders
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8C96A2"/>
                </a:solidFill>
                <a:latin typeface="Segoe UI"/>
              </a:rPr>
              <a:t>Send bill payment reminders and budget warnings directly on WhatsApp.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13 /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F0F6FC"/>
                </a:solidFill>
                <a:latin typeface="Segoe UI"/>
              </a:rPr>
              <a:t>Summary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28655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C96A2"/>
                </a:solidFill>
                <a:latin typeface="Segoe UI"/>
              </a:rPr>
              <a:t>How HomeLedger helps modern families achieve financial peace of mind: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301752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E5FF"/>
                </a:solidFill>
                <a:latin typeface="Consolas"/>
              </a:rPr>
              <a:t>[ BETTER SAVINGS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Smart Money Habits
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Helps families save regularly by setting clear budgets and cutting down unnecessary expenses.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301752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E676"/>
                </a:solidFill>
                <a:latin typeface="Consolas"/>
              </a:rPr>
              <a:t>[ NO CONFUSION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Peaceful Family Finances
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Multi-member logins and clear loan tracking remove arguments about who spent what and who owes money.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45920"/>
            <a:ext cx="3474720" cy="3017520"/>
          </a:xfrm>
          <a:prstGeom prst="roundRect">
            <a:avLst/>
          </a:prstGeom>
          <a:solidFill>
            <a:srgbClr val="121A2A"/>
          </a:solidFill>
          <a:ln w="127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C4DFF"/>
                </a:solidFill>
                <a:latin typeface="Consolas"/>
              </a:rPr>
              <a:t>[ SAFE &amp; RELIABLE ]
</a:t>
            </a:r>
          </a:p>
          <a:p>
            <a:r>
              <a:rPr sz="1300" b="1">
                <a:solidFill>
                  <a:srgbClr val="F0F6FC"/>
                </a:solidFill>
                <a:latin typeface="Segoe UI"/>
              </a:rPr>
              <a:t>Never Lose Financial Data
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8C96A2"/>
                </a:solidFill>
                <a:latin typeface="Segoe UI"/>
              </a:rPr>
              <a:t>Built on solid .NET architecture with easy 1-click database backups to keep family records safe forever.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728655" cy="1463040"/>
          </a:xfrm>
          <a:prstGeom prst="roundRect">
            <a:avLst/>
          </a:prstGeom>
          <a:solidFill>
            <a:srgbClr val="0E1523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E5FF"/>
                </a:solidFill>
                <a:latin typeface="Segoe UI"/>
              </a:rPr>
              <a:t>THANK YOU  •  QUESTIONS &amp; DISCUSSION
</a:t>
            </a:r>
          </a:p>
          <a:p>
            <a:pPr algn="ctr"/>
            <a:r>
              <a:rPr sz="1050">
                <a:solidFill>
                  <a:srgbClr val="F0F6FC"/>
                </a:solidFill>
                <a:latin typeface="Consolas"/>
              </a:rPr>
              <a:t>Family Finance Management System (HomeLedger)  |  ASP.NET Core 10.0 MVC  |  MySQL
Presented By: Harshiddh Rana  |  Project Guide: Prof. Anjali Nimavat  |  Navgujarat BCA College, Gandhinagar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